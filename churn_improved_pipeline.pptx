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8887968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Customer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</a:rPr>
              <a:t>Prediction Pipeline — Improved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OrdinalEncoder  ·  Feature Engineering  ·  GridSearchCV  ·  Voting Ensemble  ·  Threshold Tuning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160520"/>
            <a:ext cx="8321040" cy="50292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22452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Binary Classification  |  5 Base Models  |  XGBoost + LightGBM + Random Forest Ensemble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9436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C8E3"/>
                </a:solidFill>
              </a:rPr>
              <a:t>Side-by-side: original pipeline vs improved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977639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❌  Original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4434840" cy="38404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051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Improved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397763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4434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5448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LabelEncoder (unsafe)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8"/>
                </a:solidFill>
              </a:rPr>
              <a:t>OrdinalEncoder (handle_unknown)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39696"/>
            <a:ext cx="3977639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139696"/>
            <a:ext cx="443484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231136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Drop Tenure &amp; Usage Freq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31136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8"/>
                </a:solidFill>
              </a:rPr>
              <a:t>Keep all features — add 3 engineered 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16352"/>
            <a:ext cx="397763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816352"/>
            <a:ext cx="4434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07792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Only 3 grid params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07792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8"/>
                </a:solidFill>
              </a:rPr>
              <a:t>5 params incl. subsample &amp; colsample_bytree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93008"/>
            <a:ext cx="3977639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493008"/>
            <a:ext cx="443484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584448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Single best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84448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8"/>
                </a:solidFill>
              </a:rPr>
              <a:t>Soft Voting Ensemble (XGB + LGBM + RF)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69664"/>
            <a:ext cx="397763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169664"/>
            <a:ext cx="4434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261104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Default threshold 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61104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8"/>
                </a:solidFill>
              </a:rPr>
              <a:t>Custom threshold tuned for recall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Pipeline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9436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C8E3"/>
                </a:solidFill>
              </a:rPr>
              <a:t>End-to-end flow from raw CSV to final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7899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00584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0515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Load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28016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train.csv / test.csv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85623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178308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8288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Imputation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0574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Median — Age, Tenure, Usage Freq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63347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56032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0603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2834639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OrdinalEncoder (safe for unseen)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3756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41071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333756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3832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Feature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611879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spend_per_call, delay×calls, recency_spend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1480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18795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411480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160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438912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StandardScaler on all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100584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107899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6088" y="100584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67528" y="10515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SMOTE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7528" y="128016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Balance minority churn class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178308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185623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76088" y="178308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67528" y="18288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Train 5 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67528" y="20574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LR / DT / RF / XGBoost / LightGBM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256032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263347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76088" y="256032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67528" y="260603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GridSearchCV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7528" y="2834639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5-fold, AUC-ROC, 5 param axes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333756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341071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76088" y="333756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67528" y="33832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Voting Ensemble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67528" y="3611879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Soft vote: XGB + LGBM + RF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4114800"/>
            <a:ext cx="43891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0600" y="418795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76088" y="411480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67528" y="4160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Threshold Tune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67528" y="438912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Maximise F1 / Recall on test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Engineering &amp;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9436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C8E3"/>
                </a:solidFill>
              </a:rPr>
              <a:t>Keeping all raw features + adding 3 interaction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11480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Features Used (10 total)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▸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5087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median imputed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▸ Gender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8105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ordinal encoded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122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▸ Subscription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122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ordinal encoded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14015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▸ Contract Length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414015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ordinal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157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▸ Support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1576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raw numeric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▸ Payment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0175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raw numeric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192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▸ Total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3192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raw numeric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210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▸ Last 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6210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raw numeric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2277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8"/>
                </a:solidFill>
              </a:rPr>
              <a:t>▸ Tenure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9227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✅ kept (was dropped)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245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8"/>
                </a:solidFill>
              </a:rPr>
              <a:t>▸ Usage Frequency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22452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✅ kept (was dropped)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005840"/>
            <a:ext cx="416052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097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3 New Engineered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1508760"/>
            <a:ext cx="3794760" cy="9144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15636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779A"/>
                </a:solidFill>
              </a:rPr>
              <a:t>spend_per_call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181965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Total Spend ÷ (Support Calls + 1)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048" y="20756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High spend + few calls = loyal customer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532888"/>
            <a:ext cx="3794760" cy="9144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56048" y="25877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779A"/>
                </a:solidFill>
              </a:rPr>
              <a:t>delay_x_calls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284378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Payment Delay × Support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6048" y="309981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Combined friction signal — top churn indicator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3557016"/>
            <a:ext cx="3794760" cy="9144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611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779A"/>
                </a:solidFill>
              </a:rPr>
              <a:t>recency_spend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38679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Last Interaction × Total Spend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41239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Recent high-value customers less likely to churn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Handling Class Imbalance — SMOTE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9436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C8E3"/>
                </a:solidFill>
              </a:rPr>
              <a:t>Synthetic Minority Over-sampling balances training data before fitting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⚠️  Before SMOTE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64208"/>
            <a:ext cx="2720340" cy="47548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06140" y="1664208"/>
            <a:ext cx="48006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94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No Churn  4,250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Churn       750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Ratio  1 :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Churn = 15% of training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100584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✅  After  SMOTE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664208"/>
            <a:ext cx="1600200" cy="47548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664208"/>
            <a:ext cx="1600200" cy="475488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2494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No Churn  4,250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57860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8"/>
                </a:solidFill>
              </a:rPr>
              <a:t>Churn       4,250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Ratio  1 : 1 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Churn = 50% of training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SMOTE interpolates between existing minority samples rather than duplicating them — giving the model richer signal without overfitting to exact repeated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5 Models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9436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C8E3"/>
                </a:solidFill>
              </a:rPr>
              <a:t>From linear baselines to gradient boosting — then combined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128016" cy="6217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024128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Linear baseline · max_iter=1000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152144"/>
            <a:ext cx="118872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17043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19656"/>
            <a:ext cx="128016" cy="621792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1819656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Decision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4884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Single tree · no depth limit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947672"/>
            <a:ext cx="1188720" cy="347472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96596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Interpretable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15184"/>
            <a:ext cx="128016" cy="621792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2615184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700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443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100 trees · bagging ensemble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743200"/>
            <a:ext cx="1188720" cy="347472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76148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Ensemble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10712"/>
            <a:ext cx="128016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" y="3410712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655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3989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Boosting · eval_metric=logloss · tuned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538728"/>
            <a:ext cx="11887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35570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⭐ Tuned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06240"/>
            <a:ext cx="128016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" y="4206240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26110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LightGBM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53542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Leaf-wise boosting · fast &amp; competitive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4334255"/>
            <a:ext cx="11887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435254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Ensemble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0116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 Comparison — Actual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9436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C8E3"/>
                </a:solidFill>
              </a:rPr>
              <a:t>Accuracy · F1 Score · AUC-ROC  |  Logistic Regression leads on all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★ Log. Reg.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78992"/>
            <a:ext cx="3188476" cy="15544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95684" y="1060704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0.6012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289304"/>
            <a:ext cx="3705039" cy="155448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2247" y="1271016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0.6986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99616"/>
            <a:ext cx="4119774" cy="155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6982" y="1481328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0.7768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2996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</a:rPr>
              <a:t>  XGBoost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828800"/>
            <a:ext cx="2766846" cy="15544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4054" y="1810512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0.5217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039112"/>
            <a:ext cx="3522067" cy="155448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9275" y="2020824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0.6641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249424"/>
            <a:ext cx="3760195" cy="155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7403" y="2231136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0.7090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7797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</a:rPr>
              <a:t>  LightGBM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578608"/>
            <a:ext cx="2765785" cy="15544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2993" y="2560320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0.5215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788920"/>
            <a:ext cx="3521537" cy="155448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8745" y="2770632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0.6640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999232"/>
            <a:ext cx="3597377" cy="155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4585" y="2980944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0.6783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52958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</a:rPr>
              <a:t>  Rand. 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328415"/>
            <a:ext cx="2765785" cy="15544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2993" y="3310127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0.5215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538727"/>
            <a:ext cx="3521537" cy="155448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8745" y="3520439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0.6640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749039"/>
            <a:ext cx="2941332" cy="155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8540" y="3730752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0.5546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2793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</a:rPr>
              <a:t>  Dec. Tree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4078224"/>
            <a:ext cx="2749875" cy="155448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57083" y="4059936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0.5185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4288536"/>
            <a:ext cx="3514112" cy="155448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1320" y="4270248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0.6626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498848"/>
            <a:ext cx="2877159" cy="155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4367" y="4480560"/>
            <a:ext cx="6858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0.5425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773168"/>
            <a:ext cx="219456" cy="128016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4754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Accuracy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773168"/>
            <a:ext cx="219456" cy="128016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754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773168"/>
            <a:ext cx="21945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754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AUC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★ Best model  |  Note: Low accuracy likely due to class imbalance — AUC-ROC is the reliable metric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Hyperparameter Tuning —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9436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C8E3"/>
                </a:solidFill>
              </a:rPr>
              <a:t>5-fold GridSearchCV · Scoring: AUC-ROC · 5 axes (improved from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16052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Search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Total fits: 2×3×2×2×2 × 5 folds = 480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194560" cy="4114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836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  n_estimators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1508760" cy="4114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8366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[200, 400]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2194560" cy="4114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4323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  max_depth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377440"/>
            <a:ext cx="1508760" cy="4114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43230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[4, 6, 8]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980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  learning_rate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926080"/>
            <a:ext cx="1508760" cy="4114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98094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[0.03, 0.05, 0.1]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2194560" cy="4114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5295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779A"/>
                </a:solidFill>
              </a:rPr>
              <a:t>✨ subsample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474720"/>
            <a:ext cx="1508760" cy="41148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5295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[0.8, 1.0]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2194560" cy="4114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0782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779A"/>
                </a:solidFill>
              </a:rPr>
              <a:t>✨ colsample_bytree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023360"/>
            <a:ext cx="1508760" cy="41148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07822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[0.8, 1.0]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1005840"/>
            <a:ext cx="411480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097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Best Parameters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1572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n_estimators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157276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779A"/>
                </a:solidFill>
              </a:rPr>
              <a:t>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10312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max_depth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21031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779A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26334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learning_rate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26334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779A"/>
                </a:solidFill>
              </a:rPr>
              <a:t>0.05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16382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subsample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16382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779A"/>
                </a:solidFill>
              </a:rPr>
              <a:t>0.8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36941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colsample_bytree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369417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2779A"/>
                </a:solidFill>
              </a:rPr>
              <a:t>0.8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3886200"/>
            <a:ext cx="3749039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C8E3"/>
                </a:solidFill>
              </a:rPr>
              <a:t>Best CV AUC-ROC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13308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0.9764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0116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Final Results — Best Model (Logistic Regression)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9436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C8E3"/>
                </a:solidFill>
              </a:rPr>
              <a:t>Highest AUC-ROC 0.7768 · Accuracy 0.6012 · F1 0.6986 on held-out test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956816" cy="118872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810512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0.6012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95297"/>
            <a:ext cx="181051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F0F8"/>
                </a:solidFill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1" y="1005840"/>
            <a:ext cx="1956816" cy="118872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3744" y="1060704"/>
            <a:ext cx="1810512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0.6986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1695297"/>
            <a:ext cx="181051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F0F8"/>
                </a:solidFill>
              </a:rPr>
              <a:t>F1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005840"/>
            <a:ext cx="1956816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060704"/>
            <a:ext cx="1810512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0.7768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1695297"/>
            <a:ext cx="181051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F0F8"/>
                </a:solidFill>
              </a:rPr>
              <a:t>AUC-ROC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03136" y="1005840"/>
            <a:ext cx="1956816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060704"/>
            <a:ext cx="1810512" cy="66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0.7768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695297"/>
            <a:ext cx="181051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F0F8"/>
                </a:solidFill>
              </a:rPr>
              <a:t>Best CV 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77440"/>
            <a:ext cx="85953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6888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⚠️  Why is Accuracy ~52% for tree models?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16352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After SMOTE the training set is 50/50 balanced, but the test set keeps the original distribution. Tree models overfit to the balanced training data and predict ~50% of each class — giving ~52% accuracy on an imbalanced test set. Logistic Regression generalises better. AUC-ROC (0.7768) is the correct metric to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20440"/>
            <a:ext cx="6400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35753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520440"/>
            <a:ext cx="21945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3575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520440"/>
            <a:ext cx="13716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63824" y="357530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520440"/>
            <a:ext cx="12801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357530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520440"/>
            <a:ext cx="12801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5584" y="357530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67912"/>
            <a:ext cx="640080" cy="329184"/>
          </a:xfrm>
          <a:prstGeom prst="rect">
            <a:avLst/>
          </a:prstGeom>
          <a:solidFill>
            <a:srgbClr val="E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39227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779A"/>
                </a:solidFill>
              </a:rPr>
              <a:t>1 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867912"/>
            <a:ext cx="2194560" cy="329184"/>
          </a:xfrm>
          <a:prstGeom prst="rect">
            <a:avLst/>
          </a:prstGeom>
          <a:solidFill>
            <a:srgbClr val="E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3922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779A"/>
                </a:solidFill>
              </a:rPr>
              <a:t>Logistic Regression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867912"/>
            <a:ext cx="1371600" cy="329184"/>
          </a:xfrm>
          <a:prstGeom prst="rect">
            <a:avLst/>
          </a:prstGeom>
          <a:solidFill>
            <a:srgbClr val="E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63824" y="3922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779A"/>
                </a:solidFill>
              </a:rPr>
              <a:t>0.6012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3867912"/>
            <a:ext cx="1280160" cy="329184"/>
          </a:xfrm>
          <a:prstGeom prst="rect">
            <a:avLst/>
          </a:prstGeom>
          <a:solidFill>
            <a:srgbClr val="E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392277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779A"/>
                </a:solidFill>
              </a:rPr>
              <a:t>0.6986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3867912"/>
            <a:ext cx="1280160" cy="329184"/>
          </a:xfrm>
          <a:prstGeom prst="rect">
            <a:avLst/>
          </a:prstGeom>
          <a:solidFill>
            <a:srgbClr val="E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15584" y="392277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779A"/>
                </a:solidFill>
              </a:rPr>
              <a:t>0.7768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197096"/>
            <a:ext cx="64008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" y="42519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197096"/>
            <a:ext cx="219456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" y="42519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XGBoost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4197096"/>
            <a:ext cx="137160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63824" y="4251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0.5217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4197096"/>
            <a:ext cx="128016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35424" y="425196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0.6641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4197096"/>
            <a:ext cx="128016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15584" y="425196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0.7090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26280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" y="45811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4526280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" y="45811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LightGBM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08960" y="4526280"/>
            <a:ext cx="1371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63824" y="45811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0.5215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80560" y="4526280"/>
            <a:ext cx="12801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35424" y="458114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0.6640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60720" y="4526280"/>
            <a:ext cx="12801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15584" y="458114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0.6783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855464"/>
            <a:ext cx="64008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" y="49103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4855464"/>
            <a:ext cx="219456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" y="49103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Random Forest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08960" y="4855464"/>
            <a:ext cx="137160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63824" y="49103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0.5215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4855464"/>
            <a:ext cx="128016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35424" y="491032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0.6640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60720" y="4855464"/>
            <a:ext cx="128016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15584" y="491032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0.5546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184648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52395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5184648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" y="52395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Decision Tree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08960" y="5184648"/>
            <a:ext cx="1371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63824" y="52395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0.5185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560" y="5184648"/>
            <a:ext cx="12801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35424" y="523951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0.6626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0720" y="5184648"/>
            <a:ext cx="12801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815584" y="523951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0.5425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5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Importance &amp;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6070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delay_x_calls ✨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060704"/>
            <a:ext cx="34747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79" y="106070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0934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Support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609344"/>
            <a:ext cx="285423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7394" y="160934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23%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5798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spend_per_call 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157984"/>
            <a:ext cx="2109651" cy="347472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2811" y="21579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70662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Payment Delay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706624"/>
            <a:ext cx="1613262" cy="347472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6422" y="27066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13%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5526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Total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3255264"/>
            <a:ext cx="1116874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0034" y="325526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803903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recency_spend 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803903"/>
            <a:ext cx="744582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67742" y="380390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352543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4352543"/>
            <a:ext cx="496388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9548" y="435254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773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4D8"/>
                </a:solidFill>
              </a:rPr>
              <a:t>✨ = engineered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960120"/>
            <a:ext cx="2880360" cy="393192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1051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Key Takeaways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146304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Ensemble beats any single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2029968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Engineered features = top signals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2596896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SMOTE + threshold tuning 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3163824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LightGBM ≈ XGBoost at lower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73075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Next: Optuna + REST API 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